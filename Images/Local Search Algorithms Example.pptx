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356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41" r:id="rId30"/>
    <p:sldId id="339" r:id="rId31"/>
    <p:sldId id="342" r:id="rId32"/>
    <p:sldId id="343" r:id="rId33"/>
    <p:sldId id="344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43"/>
    <p:sldId id="355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>
        <p:scale>
          <a:sx n="70" d="100"/>
          <a:sy n="70" d="100"/>
        </p:scale>
        <p:origin x="-11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9C053881-41CA-49E9-841B-B98922FA132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CBB275-E68C-4691-92D4-5BFE01FBB10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D469090-50D9-4241-BA0A-0632F51914A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9B50E7A6-407D-4619-8E97-B8164789367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8261ABDF-9B6F-4983-B1E7-11B700806AE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320045-803C-41B6-A383-3E33C5175B4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90D984-86BC-4E5D-B2B6-CFC63A61D5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D6D4D78-75D8-4E30-A0CB-F8BDE4BBF85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8FD9AF3-2DEF-4303-BF09-28DB2D6D0D5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623345-0655-4327-A006-0E868B1E585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0CF87C7-1E6E-4351-A8E1-7B366515A8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B47FA-BA30-49B3-9D32-F3CC1845507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 alt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467B47FA-BA30-49B3-9D32-F3CC1845507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  <a:br>
              <a:rPr lang="en-US" dirty="0"/>
            </a:br>
            <a:r>
              <a:rPr lang="en-US" dirty="0"/>
              <a:t>MCA 202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5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Local Search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62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Improving Results and Optimization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Assume a state with many variables</a:t>
            </a:r>
          </a:p>
          <a:p>
            <a:r>
              <a:rPr lang="en-US" dirty="0" smtClean="0"/>
              <a:t>Assume some function that you want to maximize/minimize the value of</a:t>
            </a:r>
          </a:p>
          <a:p>
            <a:r>
              <a:rPr lang="en-US" dirty="0" smtClean="0"/>
              <a:t>Searching entire space is too complicated</a:t>
            </a:r>
          </a:p>
          <a:p>
            <a:pPr lvl="1"/>
            <a:r>
              <a:rPr lang="en-US" dirty="0" smtClean="0"/>
              <a:t>Can’t evaluate every possible combination of variables</a:t>
            </a:r>
          </a:p>
          <a:p>
            <a:pPr lvl="1"/>
            <a:r>
              <a:rPr lang="en-US" dirty="0" smtClean="0"/>
              <a:t>Function might be difficult to evaluate analytically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Iterative improvement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 with a complete valid state</a:t>
            </a:r>
          </a:p>
          <a:p>
            <a:r>
              <a:rPr lang="en-US" dirty="0" smtClean="0"/>
              <a:t>Gradually work to improve to better and better states</a:t>
            </a:r>
          </a:p>
          <a:p>
            <a:pPr lvl="1"/>
            <a:r>
              <a:rPr lang="en-US" dirty="0" smtClean="0"/>
              <a:t>Sometimes, try to achieve an optimum, though not always possible</a:t>
            </a:r>
          </a:p>
          <a:p>
            <a:r>
              <a:rPr lang="en-US" dirty="0" smtClean="0"/>
              <a:t>Sometimes states are discrete, sometimes continuous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One dimension (typically use more):</a:t>
            </a:r>
          </a:p>
        </p:txBody>
      </p:sp>
      <p:sp>
        <p:nvSpPr>
          <p:cNvPr id="717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Start at a valid state, try to maximize</a:t>
            </a:r>
          </a:p>
        </p:txBody>
      </p:sp>
      <p:sp>
        <p:nvSpPr>
          <p:cNvPr id="8196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8201" name="Oval 9"/>
          <p:cNvSpPr>
            <a:spLocks noChangeArrowheads="1"/>
          </p:cNvSpPr>
          <p:nvPr/>
        </p:nvSpPr>
        <p:spPr bwMode="auto">
          <a:xfrm>
            <a:off x="3200400" y="4343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Move to better state</a:t>
            </a:r>
          </a:p>
        </p:txBody>
      </p:sp>
      <p:sp>
        <p:nvSpPr>
          <p:cNvPr id="9220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Try to find maximum</a:t>
            </a:r>
          </a:p>
        </p:txBody>
      </p:sp>
      <p:sp>
        <p:nvSpPr>
          <p:cNvPr id="10244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7315200" y="2971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Hill-Climbing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mtClean="0"/>
              <a:t>Choose Random Starting State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Repeat 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		From current state, generate n random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			steps in random directions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		Choose the one that gives the best new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			value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While some new better state found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(i.e. exit if none of the n steps were better)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Random Starting Point</a:t>
            </a:r>
          </a:p>
        </p:txBody>
      </p:sp>
      <p:sp>
        <p:nvSpPr>
          <p:cNvPr id="1229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3124200" y="4343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Three random steps</a:t>
            </a:r>
          </a:p>
        </p:txBody>
      </p:sp>
      <p:sp>
        <p:nvSpPr>
          <p:cNvPr id="13316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3321" name="Oval 9"/>
          <p:cNvSpPr>
            <a:spLocks noChangeArrowheads="1"/>
          </p:cNvSpPr>
          <p:nvPr/>
        </p:nvSpPr>
        <p:spPr bwMode="auto">
          <a:xfrm>
            <a:off x="3124200" y="4343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Oval 10"/>
          <p:cNvSpPr>
            <a:spLocks noChangeArrowheads="1"/>
          </p:cNvSpPr>
          <p:nvPr/>
        </p:nvSpPr>
        <p:spPr bwMode="auto">
          <a:xfrm>
            <a:off x="2971800" y="42672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Oval 11"/>
          <p:cNvSpPr>
            <a:spLocks noChangeArrowheads="1"/>
          </p:cNvSpPr>
          <p:nvPr/>
        </p:nvSpPr>
        <p:spPr bwMode="auto">
          <a:xfrm>
            <a:off x="3371850" y="443865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Oval 12"/>
          <p:cNvSpPr>
            <a:spLocks noChangeArrowheads="1"/>
          </p:cNvSpPr>
          <p:nvPr/>
        </p:nvSpPr>
        <p:spPr bwMode="auto">
          <a:xfrm>
            <a:off x="2743200" y="41148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Choose Best One for new position</a:t>
            </a:r>
          </a:p>
        </p:txBody>
      </p:sp>
      <p:sp>
        <p:nvSpPr>
          <p:cNvPr id="14340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4345" name="Oval 12"/>
          <p:cNvSpPr>
            <a:spLocks noChangeArrowheads="1"/>
          </p:cNvSpPr>
          <p:nvPr/>
        </p:nvSpPr>
        <p:spPr bwMode="auto">
          <a:xfrm>
            <a:off x="2743200" y="4114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Repeat</a:t>
            </a:r>
          </a:p>
        </p:txBody>
      </p:sp>
      <p:sp>
        <p:nvSpPr>
          <p:cNvPr id="15364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2743200" y="4114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3048000" y="42672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3352800" y="44196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2438400" y="40386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Repeat</a:t>
            </a:r>
          </a:p>
        </p:txBody>
      </p:sp>
      <p:sp>
        <p:nvSpPr>
          <p:cNvPr id="16388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6393" name="Oval 12"/>
          <p:cNvSpPr>
            <a:spLocks noChangeArrowheads="1"/>
          </p:cNvSpPr>
          <p:nvPr/>
        </p:nvSpPr>
        <p:spPr bwMode="auto">
          <a:xfrm>
            <a:off x="2438400" y="4038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Repeat</a:t>
            </a:r>
          </a:p>
        </p:txBody>
      </p:sp>
      <p:sp>
        <p:nvSpPr>
          <p:cNvPr id="1741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7417" name="Oval 9"/>
          <p:cNvSpPr>
            <a:spLocks noChangeArrowheads="1"/>
          </p:cNvSpPr>
          <p:nvPr/>
        </p:nvSpPr>
        <p:spPr bwMode="auto">
          <a:xfrm>
            <a:off x="2438400" y="4038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1905000" y="41148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2667000" y="41148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2057400" y="3962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Repeat</a:t>
            </a:r>
          </a:p>
        </p:txBody>
      </p:sp>
      <p:sp>
        <p:nvSpPr>
          <p:cNvPr id="18436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8441" name="Oval 12"/>
          <p:cNvSpPr>
            <a:spLocks noChangeArrowheads="1"/>
          </p:cNvSpPr>
          <p:nvPr/>
        </p:nvSpPr>
        <p:spPr bwMode="auto">
          <a:xfrm>
            <a:off x="2057400" y="3962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2" name="Oval 13"/>
          <p:cNvSpPr>
            <a:spLocks noChangeArrowheads="1"/>
          </p:cNvSpPr>
          <p:nvPr/>
        </p:nvSpPr>
        <p:spPr bwMode="auto">
          <a:xfrm>
            <a:off x="1828800" y="4343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Oval 14"/>
          <p:cNvSpPr>
            <a:spLocks noChangeArrowheads="1"/>
          </p:cNvSpPr>
          <p:nvPr/>
        </p:nvSpPr>
        <p:spPr bwMode="auto">
          <a:xfrm>
            <a:off x="2819400" y="41910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Oval 15"/>
          <p:cNvSpPr>
            <a:spLocks noChangeArrowheads="1"/>
          </p:cNvSpPr>
          <p:nvPr/>
        </p:nvSpPr>
        <p:spPr bwMode="auto">
          <a:xfrm>
            <a:off x="2514600" y="40386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Example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No Improvement, so stop.</a:t>
            </a:r>
          </a:p>
        </p:txBody>
      </p:sp>
      <p:sp>
        <p:nvSpPr>
          <p:cNvPr id="19460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2057400" y="3962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Problems With Hill Climbing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600" smtClean="0"/>
              <a:t>Random Steps are Wasteful</a:t>
            </a:r>
          </a:p>
          <a:p>
            <a:pPr lvl="1"/>
            <a:r>
              <a:rPr lang="en-US" sz="2200" smtClean="0"/>
              <a:t>Addressed by other methods</a:t>
            </a:r>
          </a:p>
          <a:p>
            <a:r>
              <a:rPr lang="en-US" sz="2600" smtClean="0"/>
              <a:t>Local maxima, plateaus, ridges</a:t>
            </a:r>
          </a:p>
          <a:p>
            <a:pPr lvl="1"/>
            <a:r>
              <a:rPr lang="en-US" sz="2200" smtClean="0"/>
              <a:t>Can try random restart locations</a:t>
            </a:r>
          </a:p>
          <a:p>
            <a:pPr lvl="1"/>
            <a:r>
              <a:rPr lang="en-US" sz="2200" smtClean="0"/>
              <a:t>Can keep the </a:t>
            </a:r>
            <a:r>
              <a:rPr lang="en-US" sz="2200" i="1" smtClean="0"/>
              <a:t>n</a:t>
            </a:r>
            <a:r>
              <a:rPr lang="en-US" sz="2200" smtClean="0"/>
              <a:t> best choices (this is also called “beam search”)</a:t>
            </a:r>
          </a:p>
          <a:p>
            <a:r>
              <a:rPr lang="en-US" sz="2600" smtClean="0"/>
              <a:t>Comparing to game trees:</a:t>
            </a:r>
          </a:p>
          <a:p>
            <a:pPr lvl="1"/>
            <a:r>
              <a:rPr lang="en-US" sz="2200" smtClean="0"/>
              <a:t>Basically looks at some number of available next moves and chooses the one that looks the best at the moment</a:t>
            </a:r>
          </a:p>
          <a:p>
            <a:pPr lvl="1"/>
            <a:r>
              <a:rPr lang="en-US" sz="2200" smtClean="0"/>
              <a:t>Beam search: follow only the best-looking </a:t>
            </a:r>
            <a:r>
              <a:rPr lang="en-US" sz="2200" i="1" smtClean="0"/>
              <a:t>n</a:t>
            </a:r>
            <a:r>
              <a:rPr lang="en-US" sz="2200" smtClean="0"/>
              <a:t> moves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 Descent (or Ascent)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Simple modification to Hill Climbing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Generallly assumes a continuous state space</a:t>
            </a:r>
          </a:p>
          <a:p>
            <a:pPr>
              <a:lnSpc>
                <a:spcPct val="90000"/>
              </a:lnSpc>
            </a:pPr>
            <a:r>
              <a:rPr lang="en-US" smtClean="0"/>
              <a:t>Idea is to take more intelligent steps</a:t>
            </a:r>
          </a:p>
          <a:p>
            <a:pPr>
              <a:lnSpc>
                <a:spcPct val="90000"/>
              </a:lnSpc>
            </a:pPr>
            <a:r>
              <a:rPr lang="en-US" smtClean="0"/>
              <a:t>Look at local gradient: the direction of largest change</a:t>
            </a:r>
          </a:p>
          <a:p>
            <a:pPr>
              <a:lnSpc>
                <a:spcPct val="90000"/>
              </a:lnSpc>
            </a:pPr>
            <a:r>
              <a:rPr lang="en-US" smtClean="0"/>
              <a:t>Take step in that direction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Step size should be proportional to gradient </a:t>
            </a:r>
          </a:p>
          <a:p>
            <a:pPr>
              <a:lnSpc>
                <a:spcPct val="90000"/>
              </a:lnSpc>
            </a:pPr>
            <a:r>
              <a:rPr lang="en-US" smtClean="0"/>
              <a:t>Tends to yield much faster convergence to maximum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 Ascent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Random Starting Point</a:t>
            </a:r>
          </a:p>
        </p:txBody>
      </p:sp>
      <p:sp>
        <p:nvSpPr>
          <p:cNvPr id="2253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3124200" y="4343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 Ascent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 step in direction of largest increase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			(obvious in 1D, must be computed in higher dimensions)</a:t>
            </a:r>
          </a:p>
        </p:txBody>
      </p:sp>
      <p:sp>
        <p:nvSpPr>
          <p:cNvPr id="23556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3124200" y="4343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Oval 10"/>
          <p:cNvSpPr>
            <a:spLocks noChangeArrowheads="1"/>
          </p:cNvSpPr>
          <p:nvPr/>
        </p:nvSpPr>
        <p:spPr bwMode="auto">
          <a:xfrm>
            <a:off x="2743200" y="41148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 flipH="1" flipV="1">
            <a:off x="2971800" y="4038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 Ascent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Repeat</a:t>
            </a:r>
          </a:p>
        </p:txBody>
      </p:sp>
      <p:sp>
        <p:nvSpPr>
          <p:cNvPr id="24580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24585" name="Oval 10"/>
          <p:cNvSpPr>
            <a:spLocks noChangeArrowheads="1"/>
          </p:cNvSpPr>
          <p:nvPr/>
        </p:nvSpPr>
        <p:spPr bwMode="auto">
          <a:xfrm>
            <a:off x="2743200" y="4114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11"/>
          <p:cNvSpPr>
            <a:spLocks noChangeShapeType="1"/>
          </p:cNvSpPr>
          <p:nvPr/>
        </p:nvSpPr>
        <p:spPr bwMode="auto">
          <a:xfrm flipH="1" flipV="1">
            <a:off x="2438400" y="3886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7" name="Oval 12"/>
          <p:cNvSpPr>
            <a:spLocks noChangeArrowheads="1"/>
          </p:cNvSpPr>
          <p:nvPr/>
        </p:nvSpPr>
        <p:spPr bwMode="auto">
          <a:xfrm>
            <a:off x="2362200" y="3962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 Ascent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 is actually lower, so stop</a:t>
            </a:r>
          </a:p>
        </p:txBody>
      </p:sp>
      <p:sp>
        <p:nvSpPr>
          <p:cNvPr id="25604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2019300" y="405765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 flipH="1" flipV="1">
            <a:off x="2057400" y="3657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1" name="Oval 11"/>
          <p:cNvSpPr>
            <a:spLocks noChangeArrowheads="1"/>
          </p:cNvSpPr>
          <p:nvPr/>
        </p:nvSpPr>
        <p:spPr bwMode="auto">
          <a:xfrm>
            <a:off x="2362200" y="3962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 Ascent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Could reduce step size to “hone in”</a:t>
            </a:r>
          </a:p>
        </p:txBody>
      </p:sp>
      <p:sp>
        <p:nvSpPr>
          <p:cNvPr id="26628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26633" name="Oval 9"/>
          <p:cNvSpPr>
            <a:spLocks noChangeArrowheads="1"/>
          </p:cNvSpPr>
          <p:nvPr/>
        </p:nvSpPr>
        <p:spPr bwMode="auto">
          <a:xfrm>
            <a:off x="2171700" y="39243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 flipH="1" flipV="1">
            <a:off x="2057400" y="3657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5" name="Oval 11"/>
          <p:cNvSpPr>
            <a:spLocks noChangeArrowheads="1"/>
          </p:cNvSpPr>
          <p:nvPr/>
        </p:nvSpPr>
        <p:spPr bwMode="auto">
          <a:xfrm>
            <a:off x="2362200" y="3962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 Ascent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Converge to (local) maximum</a:t>
            </a:r>
          </a:p>
        </p:txBody>
      </p:sp>
      <p:sp>
        <p:nvSpPr>
          <p:cNvPr id="2765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2171700" y="39243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Dealing with Local Minima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Can use various modifications of hill climbing and gradient descent</a:t>
            </a:r>
          </a:p>
          <a:p>
            <a:pPr lvl="1"/>
            <a:r>
              <a:rPr lang="en-US" smtClean="0"/>
              <a:t>Random starting positions – choose one</a:t>
            </a:r>
          </a:p>
          <a:p>
            <a:pPr lvl="1"/>
            <a:r>
              <a:rPr lang="en-US" smtClean="0"/>
              <a:t>Random steps when maximum reached</a:t>
            </a:r>
          </a:p>
          <a:p>
            <a:pPr lvl="1"/>
            <a:r>
              <a:rPr lang="en-US" smtClean="0"/>
              <a:t>Conjugate Gradient Descent/Ascent</a:t>
            </a:r>
          </a:p>
          <a:p>
            <a:pPr lvl="2"/>
            <a:r>
              <a:rPr lang="en-US" smtClean="0"/>
              <a:t>Choose gradient direction – look for max in that direction</a:t>
            </a:r>
          </a:p>
          <a:p>
            <a:pPr lvl="2"/>
            <a:r>
              <a:rPr lang="en-US" smtClean="0"/>
              <a:t>Then from that point go in a different direction</a:t>
            </a:r>
          </a:p>
          <a:p>
            <a:r>
              <a:rPr lang="en-US" smtClean="0"/>
              <a:t>Simulated Annealing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Annealing: heat up metal and let cool to make harder</a:t>
            </a:r>
          </a:p>
          <a:p>
            <a:pPr lvl="1"/>
            <a:r>
              <a:rPr lang="en-US" smtClean="0"/>
              <a:t>By heating, you give atoms freedom to move around</a:t>
            </a:r>
          </a:p>
          <a:p>
            <a:pPr lvl="1"/>
            <a:r>
              <a:rPr lang="en-US" smtClean="0"/>
              <a:t>Cooling “hardens” the metal in a stronger state</a:t>
            </a:r>
          </a:p>
          <a:p>
            <a:r>
              <a:rPr lang="en-US" smtClean="0"/>
              <a:t>Idea is like hill-climbing, but you can take steps down as well as up.</a:t>
            </a:r>
          </a:p>
          <a:p>
            <a:pPr lvl="1"/>
            <a:r>
              <a:rPr lang="en-US" smtClean="0"/>
              <a:t>The probability of allowing “down” steps goes down with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Heuristic/goal/fitness function E (energy)</a:t>
            </a:r>
          </a:p>
          <a:p>
            <a:r>
              <a:rPr lang="en-US" sz="2600" dirty="0" smtClean="0"/>
              <a:t>Generate a move (randomly) and compute </a:t>
            </a:r>
          </a:p>
          <a:p>
            <a:pPr>
              <a:buFont typeface="Wingdings" pitchFamily="2" charset="2"/>
              <a:buNone/>
            </a:pPr>
            <a:r>
              <a:rPr lang="en-US" sz="2600" dirty="0" smtClean="0">
                <a:latin typeface="Symbol" pitchFamily="18" charset="2"/>
              </a:rPr>
              <a:t>		D</a:t>
            </a:r>
            <a:r>
              <a:rPr lang="en-US" sz="2600" dirty="0" smtClean="0"/>
              <a:t>E = </a:t>
            </a:r>
            <a:r>
              <a:rPr lang="en-US" sz="2600" dirty="0" err="1" smtClean="0"/>
              <a:t>E</a:t>
            </a:r>
            <a:r>
              <a:rPr lang="en-US" sz="2600" baseline="-25000" dirty="0" err="1" smtClean="0"/>
              <a:t>new</a:t>
            </a:r>
            <a:r>
              <a:rPr lang="en-US" sz="2600" dirty="0" err="1" smtClean="0"/>
              <a:t>-E</a:t>
            </a:r>
            <a:r>
              <a:rPr lang="en-US" sz="2600" baseline="-25000" dirty="0" err="1" smtClean="0"/>
              <a:t>old</a:t>
            </a:r>
            <a:endParaRPr lang="en-US" sz="2600" baseline="-25000" dirty="0" smtClean="0"/>
          </a:p>
          <a:p>
            <a:r>
              <a:rPr lang="en-US" sz="2600" dirty="0" smtClean="0"/>
              <a:t>If </a:t>
            </a:r>
            <a:r>
              <a:rPr lang="en-US" sz="2600" dirty="0" smtClean="0">
                <a:latin typeface="Symbol" pitchFamily="18" charset="2"/>
              </a:rPr>
              <a:t>D</a:t>
            </a:r>
            <a:r>
              <a:rPr lang="en-US" sz="2600" dirty="0" smtClean="0"/>
              <a:t>E &lt;= 0, then accept the move</a:t>
            </a:r>
          </a:p>
          <a:p>
            <a:r>
              <a:rPr lang="en-US" sz="2600" dirty="0" smtClean="0"/>
              <a:t>If </a:t>
            </a:r>
            <a:r>
              <a:rPr lang="en-US" sz="2600" dirty="0" smtClean="0">
                <a:latin typeface="Symbol" pitchFamily="18" charset="2"/>
              </a:rPr>
              <a:t>D</a:t>
            </a:r>
            <a:r>
              <a:rPr lang="en-US" sz="2600" dirty="0" smtClean="0"/>
              <a:t>E &gt; 0, accept the move with probability:</a:t>
            </a:r>
          </a:p>
          <a:p>
            <a:pPr>
              <a:buFont typeface="Wingdings" pitchFamily="2" charset="2"/>
              <a:buNone/>
            </a:pPr>
            <a:r>
              <a:rPr lang="en-US" sz="2600" dirty="0" smtClean="0"/>
              <a:t>	Set 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T is “Temperature”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736359"/>
              </p:ext>
            </p:extLst>
          </p:nvPr>
        </p:nvGraphicFramePr>
        <p:xfrm>
          <a:off x="3276600" y="3810000"/>
          <a:ext cx="29718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3" imgW="876300" imgH="342900" progId="Equation.3">
                  <p:embed/>
                </p:oleObj>
              </mc:Choice>
              <mc:Fallback>
                <p:oleObj name="Equation" r:id="rId3" imgW="876300" imgH="34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10000"/>
                        <a:ext cx="2971800" cy="116363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Compare P(</a:t>
            </a:r>
            <a:r>
              <a:rPr lang="en-US" smtClean="0">
                <a:latin typeface="Symbol" pitchFamily="18" charset="2"/>
              </a:rPr>
              <a:t>D</a:t>
            </a:r>
            <a:r>
              <a:rPr lang="en-US" smtClean="0"/>
              <a:t>E) with a random number from 0 to 1.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If it’s below, then accept</a:t>
            </a:r>
          </a:p>
          <a:p>
            <a:pPr>
              <a:lnSpc>
                <a:spcPct val="90000"/>
              </a:lnSpc>
            </a:pPr>
            <a:r>
              <a:rPr lang="en-US" smtClean="0"/>
              <a:t>Temperature decreased over time</a:t>
            </a:r>
          </a:p>
          <a:p>
            <a:pPr>
              <a:lnSpc>
                <a:spcPct val="90000"/>
              </a:lnSpc>
            </a:pPr>
            <a:r>
              <a:rPr lang="en-US" smtClean="0"/>
              <a:t>When T is higher, downward moves are more likely accepted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T=0 means equivalent to hill climbing</a:t>
            </a:r>
          </a:p>
          <a:p>
            <a:pPr>
              <a:lnSpc>
                <a:spcPct val="90000"/>
              </a:lnSpc>
            </a:pPr>
            <a:r>
              <a:rPr lang="en-US" smtClean="0"/>
              <a:t>When </a:t>
            </a:r>
            <a:r>
              <a:rPr lang="en-US" smtClean="0">
                <a:latin typeface="Symbol" pitchFamily="18" charset="2"/>
              </a:rPr>
              <a:t>D</a:t>
            </a:r>
            <a:r>
              <a:rPr lang="en-US" smtClean="0"/>
              <a:t>E is smaller, downward moves are more likely accepted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“Cooling Schedule”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Speed at which temperature is reduced has an effect</a:t>
            </a:r>
          </a:p>
          <a:p>
            <a:r>
              <a:rPr lang="en-US" smtClean="0"/>
              <a:t>Too fast and the optima are not found</a:t>
            </a:r>
          </a:p>
          <a:p>
            <a:r>
              <a:rPr lang="en-US" smtClean="0"/>
              <a:t>Too slow and time is wasted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Random Starting Point</a:t>
            </a:r>
          </a:p>
        </p:txBody>
      </p:sp>
      <p:sp>
        <p:nvSpPr>
          <p:cNvPr id="3277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3124200" y="4343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Text Box 11"/>
          <p:cNvSpPr txBox="1">
            <a:spLocks noChangeArrowheads="1"/>
          </p:cNvSpPr>
          <p:nvPr/>
        </p:nvSpPr>
        <p:spPr bwMode="auto">
          <a:xfrm>
            <a:off x="6854825" y="1768475"/>
            <a:ext cx="1377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Very</a:t>
            </a:r>
          </a:p>
          <a:p>
            <a:pPr eaLnBrk="1" hangingPunct="1"/>
            <a:r>
              <a:rPr lang="en-US" sz="2400" b="1" dirty="0"/>
              <a:t>     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Random Step</a:t>
            </a:r>
          </a:p>
        </p:txBody>
      </p:sp>
      <p:sp>
        <p:nvSpPr>
          <p:cNvPr id="33796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3124200" y="4343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6854825" y="1768475"/>
            <a:ext cx="1377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Very</a:t>
            </a:r>
          </a:p>
          <a:p>
            <a:pPr eaLnBrk="1" hangingPunct="1"/>
            <a:r>
              <a:rPr lang="en-US" sz="2400" b="1" dirty="0"/>
              <a:t>      High</a:t>
            </a:r>
          </a:p>
        </p:txBody>
      </p:sp>
      <p:sp>
        <p:nvSpPr>
          <p:cNvPr id="33803" name="Oval 11"/>
          <p:cNvSpPr>
            <a:spLocks noChangeArrowheads="1"/>
          </p:cNvSpPr>
          <p:nvPr/>
        </p:nvSpPr>
        <p:spPr bwMode="auto">
          <a:xfrm>
            <a:off x="3657600" y="45720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Even though E is lower, accept</a:t>
            </a:r>
          </a:p>
        </p:txBody>
      </p:sp>
      <p:sp>
        <p:nvSpPr>
          <p:cNvPr id="34820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4825" name="Text Box 10"/>
          <p:cNvSpPr txBox="1">
            <a:spLocks noChangeArrowheads="1"/>
          </p:cNvSpPr>
          <p:nvPr/>
        </p:nvSpPr>
        <p:spPr bwMode="auto">
          <a:xfrm>
            <a:off x="6854825" y="1779848"/>
            <a:ext cx="1377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Very</a:t>
            </a:r>
          </a:p>
          <a:p>
            <a:pPr eaLnBrk="1" hangingPunct="1"/>
            <a:r>
              <a:rPr lang="en-US" sz="2400" b="1" dirty="0"/>
              <a:t>      High</a:t>
            </a:r>
          </a:p>
        </p:txBody>
      </p:sp>
      <p:sp>
        <p:nvSpPr>
          <p:cNvPr id="34826" name="Oval 11"/>
          <p:cNvSpPr>
            <a:spLocks noChangeArrowheads="1"/>
          </p:cNvSpPr>
          <p:nvPr/>
        </p:nvSpPr>
        <p:spPr bwMode="auto">
          <a:xfrm>
            <a:off x="3657600" y="4572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since higher E</a:t>
            </a:r>
          </a:p>
        </p:txBody>
      </p:sp>
      <p:sp>
        <p:nvSpPr>
          <p:cNvPr id="35844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7111431" y="1768475"/>
            <a:ext cx="1377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Very</a:t>
            </a:r>
          </a:p>
          <a:p>
            <a:pPr eaLnBrk="1" hangingPunct="1"/>
            <a:r>
              <a:rPr lang="en-US" sz="2400" b="1" dirty="0"/>
              <a:t>      High</a:t>
            </a:r>
          </a:p>
        </p:txBody>
      </p:sp>
      <p:sp>
        <p:nvSpPr>
          <p:cNvPr id="35850" name="Oval 10"/>
          <p:cNvSpPr>
            <a:spLocks noChangeArrowheads="1"/>
          </p:cNvSpPr>
          <p:nvPr/>
        </p:nvSpPr>
        <p:spPr bwMode="auto">
          <a:xfrm>
            <a:off x="3657600" y="4572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Oval 11"/>
          <p:cNvSpPr>
            <a:spLocks noChangeArrowheads="1"/>
          </p:cNvSpPr>
          <p:nvPr/>
        </p:nvSpPr>
        <p:spPr bwMode="auto">
          <a:xfrm>
            <a:off x="4572000" y="3962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since higher E</a:t>
            </a:r>
          </a:p>
        </p:txBody>
      </p:sp>
      <p:sp>
        <p:nvSpPr>
          <p:cNvPr id="36868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7232650" y="1768475"/>
            <a:ext cx="1377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/>
              <a:t>T = Very</a:t>
            </a:r>
          </a:p>
          <a:p>
            <a:pPr eaLnBrk="1" hangingPunct="1"/>
            <a:r>
              <a:rPr lang="en-US" sz="2400" b="1"/>
              <a:t>      High</a:t>
            </a:r>
          </a:p>
        </p:txBody>
      </p:sp>
      <p:sp>
        <p:nvSpPr>
          <p:cNvPr id="36874" name="Oval 11"/>
          <p:cNvSpPr>
            <a:spLocks noChangeArrowheads="1"/>
          </p:cNvSpPr>
          <p:nvPr/>
        </p:nvSpPr>
        <p:spPr bwMode="auto">
          <a:xfrm>
            <a:off x="4572000" y="3962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Oval 12"/>
          <p:cNvSpPr>
            <a:spLocks noChangeArrowheads="1"/>
          </p:cNvSpPr>
          <p:nvPr/>
        </p:nvSpPr>
        <p:spPr bwMode="auto">
          <a:xfrm>
            <a:off x="5410200" y="38862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even though lower</a:t>
            </a:r>
          </a:p>
        </p:txBody>
      </p:sp>
      <p:sp>
        <p:nvSpPr>
          <p:cNvPr id="3789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7218362" y="2311923"/>
            <a:ext cx="1392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High</a:t>
            </a:r>
          </a:p>
        </p:txBody>
      </p:sp>
      <p:sp>
        <p:nvSpPr>
          <p:cNvPr id="37898" name="Oval 11"/>
          <p:cNvSpPr>
            <a:spLocks noChangeArrowheads="1"/>
          </p:cNvSpPr>
          <p:nvPr/>
        </p:nvSpPr>
        <p:spPr bwMode="auto">
          <a:xfrm>
            <a:off x="5410200" y="3886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Oval 12"/>
          <p:cNvSpPr>
            <a:spLocks noChangeArrowheads="1"/>
          </p:cNvSpPr>
          <p:nvPr/>
        </p:nvSpPr>
        <p:spPr bwMode="auto">
          <a:xfrm>
            <a:off x="6172200" y="41910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even though lower</a:t>
            </a:r>
          </a:p>
        </p:txBody>
      </p:sp>
      <p:sp>
        <p:nvSpPr>
          <p:cNvPr id="38916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7162800" y="2362200"/>
            <a:ext cx="1392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High</a:t>
            </a:r>
          </a:p>
        </p:txBody>
      </p:sp>
      <p:sp>
        <p:nvSpPr>
          <p:cNvPr id="38922" name="Oval 11"/>
          <p:cNvSpPr>
            <a:spLocks noChangeArrowheads="1"/>
          </p:cNvSpPr>
          <p:nvPr/>
        </p:nvSpPr>
        <p:spPr bwMode="auto">
          <a:xfrm>
            <a:off x="6172200" y="4191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23" name="Oval 12"/>
          <p:cNvSpPr>
            <a:spLocks noChangeArrowheads="1"/>
          </p:cNvSpPr>
          <p:nvPr/>
        </p:nvSpPr>
        <p:spPr bwMode="auto">
          <a:xfrm>
            <a:off x="7010400" y="46482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since higher</a:t>
            </a:r>
          </a:p>
        </p:txBody>
      </p:sp>
      <p:sp>
        <p:nvSpPr>
          <p:cNvPr id="39940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6743700" y="2109598"/>
            <a:ext cx="186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Medium</a:t>
            </a:r>
          </a:p>
        </p:txBody>
      </p:sp>
      <p:sp>
        <p:nvSpPr>
          <p:cNvPr id="39946" name="Oval 11"/>
          <p:cNvSpPr>
            <a:spLocks noChangeArrowheads="1"/>
          </p:cNvSpPr>
          <p:nvPr/>
        </p:nvSpPr>
        <p:spPr bwMode="auto">
          <a:xfrm>
            <a:off x="7010400" y="4648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7" name="Oval 12"/>
          <p:cNvSpPr>
            <a:spLocks noChangeArrowheads="1"/>
          </p:cNvSpPr>
          <p:nvPr/>
        </p:nvSpPr>
        <p:spPr bwMode="auto">
          <a:xfrm>
            <a:off x="7162800" y="36576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lower, but reject (T is falling)</a:t>
            </a:r>
          </a:p>
        </p:txBody>
      </p:sp>
      <p:sp>
        <p:nvSpPr>
          <p:cNvPr id="40964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40967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6743700" y="2362200"/>
            <a:ext cx="186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Medium</a:t>
            </a:r>
          </a:p>
        </p:txBody>
      </p:sp>
      <p:sp>
        <p:nvSpPr>
          <p:cNvPr id="40970" name="Oval 11"/>
          <p:cNvSpPr>
            <a:spLocks noChangeArrowheads="1"/>
          </p:cNvSpPr>
          <p:nvPr/>
        </p:nvSpPr>
        <p:spPr bwMode="auto">
          <a:xfrm>
            <a:off x="7162800" y="3657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1" name="Oval 12"/>
          <p:cNvSpPr>
            <a:spLocks noChangeArrowheads="1"/>
          </p:cNvSpPr>
          <p:nvPr/>
        </p:nvSpPr>
        <p:spPr bwMode="auto">
          <a:xfrm>
            <a:off x="7086600" y="4343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since E is higher</a:t>
            </a:r>
          </a:p>
        </p:txBody>
      </p:sp>
      <p:sp>
        <p:nvSpPr>
          <p:cNvPr id="41988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41991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6776682" y="2133600"/>
            <a:ext cx="186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Medium</a:t>
            </a:r>
          </a:p>
        </p:txBody>
      </p:sp>
      <p:sp>
        <p:nvSpPr>
          <p:cNvPr id="41994" name="Oval 10"/>
          <p:cNvSpPr>
            <a:spLocks noChangeArrowheads="1"/>
          </p:cNvSpPr>
          <p:nvPr/>
        </p:nvSpPr>
        <p:spPr bwMode="auto">
          <a:xfrm>
            <a:off x="7162800" y="3657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95" name="Oval 11"/>
          <p:cNvSpPr>
            <a:spLocks noChangeArrowheads="1"/>
          </p:cNvSpPr>
          <p:nvPr/>
        </p:nvSpPr>
        <p:spPr bwMode="auto">
          <a:xfrm>
            <a:off x="7543800" y="31242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since E change small</a:t>
            </a:r>
          </a:p>
        </p:txBody>
      </p:sp>
      <p:sp>
        <p:nvSpPr>
          <p:cNvPr id="43012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6881812" y="2362200"/>
            <a:ext cx="132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/>
              <a:t>T = Low</a:t>
            </a:r>
          </a:p>
        </p:txBody>
      </p:sp>
      <p:sp>
        <p:nvSpPr>
          <p:cNvPr id="43018" name="Oval 11"/>
          <p:cNvSpPr>
            <a:spLocks noChangeArrowheads="1"/>
          </p:cNvSpPr>
          <p:nvPr/>
        </p:nvSpPr>
        <p:spPr bwMode="auto">
          <a:xfrm>
            <a:off x="7543800" y="3124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Oval 12"/>
          <p:cNvSpPr>
            <a:spLocks noChangeArrowheads="1"/>
          </p:cNvSpPr>
          <p:nvPr/>
        </p:nvSpPr>
        <p:spPr bwMode="auto">
          <a:xfrm>
            <a:off x="7696200" y="32766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Accept since E larget</a:t>
            </a:r>
          </a:p>
        </p:txBody>
      </p:sp>
      <p:sp>
        <p:nvSpPr>
          <p:cNvPr id="44036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6896597" y="2362200"/>
            <a:ext cx="132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/>
              <a:t>T = Low</a:t>
            </a:r>
          </a:p>
        </p:txBody>
      </p:sp>
      <p:sp>
        <p:nvSpPr>
          <p:cNvPr id="44042" name="Oval 11"/>
          <p:cNvSpPr>
            <a:spLocks noChangeArrowheads="1"/>
          </p:cNvSpPr>
          <p:nvPr/>
        </p:nvSpPr>
        <p:spPr bwMode="auto">
          <a:xfrm>
            <a:off x="7696200" y="3276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3" name="Oval 12"/>
          <p:cNvSpPr>
            <a:spLocks noChangeArrowheads="1"/>
          </p:cNvSpPr>
          <p:nvPr/>
        </p:nvSpPr>
        <p:spPr bwMode="auto">
          <a:xfrm>
            <a:off x="7467600" y="30480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Next Step; Reject since E lower and T low</a:t>
            </a:r>
          </a:p>
        </p:txBody>
      </p:sp>
      <p:sp>
        <p:nvSpPr>
          <p:cNvPr id="45060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61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45063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64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45065" name="Text Box 9"/>
          <p:cNvSpPr txBox="1">
            <a:spLocks noChangeArrowheads="1"/>
          </p:cNvSpPr>
          <p:nvPr/>
        </p:nvSpPr>
        <p:spPr bwMode="auto">
          <a:xfrm>
            <a:off x="6805612" y="2406437"/>
            <a:ext cx="132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Low</a:t>
            </a:r>
          </a:p>
        </p:txBody>
      </p:sp>
      <p:sp>
        <p:nvSpPr>
          <p:cNvPr id="45066" name="Oval 11"/>
          <p:cNvSpPr>
            <a:spLocks noChangeArrowheads="1"/>
          </p:cNvSpPr>
          <p:nvPr/>
        </p:nvSpPr>
        <p:spPr bwMode="auto">
          <a:xfrm>
            <a:off x="7467600" y="3048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Oval 12"/>
          <p:cNvSpPr>
            <a:spLocks noChangeArrowheads="1"/>
          </p:cNvSpPr>
          <p:nvPr/>
        </p:nvSpPr>
        <p:spPr bwMode="auto">
          <a:xfrm>
            <a:off x="7239000" y="3200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Simulated Annealing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Eventually converge to Maximum</a:t>
            </a:r>
          </a:p>
        </p:txBody>
      </p:sp>
      <p:sp>
        <p:nvSpPr>
          <p:cNvPr id="46084" name="Freeform 4"/>
          <p:cNvSpPr>
            <a:spLocks/>
          </p:cNvSpPr>
          <p:nvPr/>
        </p:nvSpPr>
        <p:spPr bwMode="auto">
          <a:xfrm>
            <a:off x="1752600" y="2971800"/>
            <a:ext cx="6858000" cy="2438400"/>
          </a:xfrm>
          <a:custGeom>
            <a:avLst/>
            <a:gdLst>
              <a:gd name="T0" fmla="*/ 0 w 4960"/>
              <a:gd name="T1" fmla="*/ 1584 h 2072"/>
              <a:gd name="T2" fmla="*/ 384 w 4960"/>
              <a:gd name="T3" fmla="*/ 912 h 2072"/>
              <a:gd name="T4" fmla="*/ 1488 w 4960"/>
              <a:gd name="T5" fmla="*/ 1440 h 2072"/>
              <a:gd name="T6" fmla="*/ 1776 w 4960"/>
              <a:gd name="T7" fmla="*/ 960 h 2072"/>
              <a:gd name="T8" fmla="*/ 3024 w 4960"/>
              <a:gd name="T9" fmla="*/ 912 h 2072"/>
              <a:gd name="T10" fmla="*/ 3552 w 4960"/>
              <a:gd name="T11" fmla="*/ 1632 h 2072"/>
              <a:gd name="T12" fmla="*/ 3936 w 4960"/>
              <a:gd name="T13" fmla="*/ 1344 h 2072"/>
              <a:gd name="T14" fmla="*/ 4080 w 4960"/>
              <a:gd name="T15" fmla="*/ 96 h 2072"/>
              <a:gd name="T16" fmla="*/ 4608 w 4960"/>
              <a:gd name="T17" fmla="*/ 768 h 2072"/>
              <a:gd name="T18" fmla="*/ 4848 w 4960"/>
              <a:gd name="T19" fmla="*/ 1728 h 2072"/>
              <a:gd name="T20" fmla="*/ 4944 w 4960"/>
              <a:gd name="T21" fmla="*/ 2016 h 2072"/>
              <a:gd name="T22" fmla="*/ 4944 w 4960"/>
              <a:gd name="T23" fmla="*/ 1392 h 2072"/>
              <a:gd name="T24" fmla="*/ 4944 w 4960"/>
              <a:gd name="T25" fmla="*/ 1296 h 20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60"/>
              <a:gd name="T40" fmla="*/ 0 h 2072"/>
              <a:gd name="T41" fmla="*/ 4960 w 4960"/>
              <a:gd name="T42" fmla="*/ 2072 h 20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60" h="2072">
                <a:moveTo>
                  <a:pt x="0" y="1584"/>
                </a:moveTo>
                <a:cubicBezTo>
                  <a:pt x="68" y="1260"/>
                  <a:pt x="136" y="936"/>
                  <a:pt x="384" y="912"/>
                </a:cubicBezTo>
                <a:cubicBezTo>
                  <a:pt x="632" y="888"/>
                  <a:pt x="1256" y="1432"/>
                  <a:pt x="1488" y="1440"/>
                </a:cubicBezTo>
                <a:cubicBezTo>
                  <a:pt x="1720" y="1448"/>
                  <a:pt x="1520" y="1048"/>
                  <a:pt x="1776" y="960"/>
                </a:cubicBezTo>
                <a:cubicBezTo>
                  <a:pt x="2032" y="872"/>
                  <a:pt x="2728" y="800"/>
                  <a:pt x="3024" y="912"/>
                </a:cubicBezTo>
                <a:cubicBezTo>
                  <a:pt x="3320" y="1024"/>
                  <a:pt x="3400" y="1560"/>
                  <a:pt x="3552" y="1632"/>
                </a:cubicBezTo>
                <a:cubicBezTo>
                  <a:pt x="3704" y="1704"/>
                  <a:pt x="3848" y="1600"/>
                  <a:pt x="3936" y="1344"/>
                </a:cubicBezTo>
                <a:cubicBezTo>
                  <a:pt x="4024" y="1088"/>
                  <a:pt x="3968" y="192"/>
                  <a:pt x="4080" y="96"/>
                </a:cubicBezTo>
                <a:cubicBezTo>
                  <a:pt x="4192" y="0"/>
                  <a:pt x="4480" y="496"/>
                  <a:pt x="4608" y="768"/>
                </a:cubicBezTo>
                <a:cubicBezTo>
                  <a:pt x="4736" y="1040"/>
                  <a:pt x="4792" y="1520"/>
                  <a:pt x="4848" y="1728"/>
                </a:cubicBezTo>
                <a:cubicBezTo>
                  <a:pt x="4904" y="1936"/>
                  <a:pt x="4928" y="2072"/>
                  <a:pt x="4944" y="2016"/>
                </a:cubicBezTo>
                <a:cubicBezTo>
                  <a:pt x="4960" y="1960"/>
                  <a:pt x="4944" y="1512"/>
                  <a:pt x="4944" y="1392"/>
                </a:cubicBezTo>
                <a:cubicBezTo>
                  <a:pt x="4944" y="1272"/>
                  <a:pt x="4944" y="1284"/>
                  <a:pt x="4944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85" name="Line 5"/>
          <p:cNvSpPr>
            <a:spLocks noChangeShapeType="1"/>
          </p:cNvSpPr>
          <p:nvPr/>
        </p:nvSpPr>
        <p:spPr bwMode="auto">
          <a:xfrm>
            <a:off x="609600" y="6096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1905000" y="6172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 flipV="1">
            <a:off x="1371600" y="25908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304800" y="3352800"/>
            <a:ext cx="98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function</a:t>
            </a:r>
          </a:p>
          <a:p>
            <a:pPr eaLnBrk="1" hangingPunct="1"/>
            <a:r>
              <a:rPr lang="en-US"/>
              <a:t>value</a:t>
            </a: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6729412" y="2286000"/>
            <a:ext cx="132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/>
              <a:t>T = Low</a:t>
            </a:r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7315200" y="2971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I_PPT_Theme_2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AI_PPT_Theme_2</Template>
  <TotalTime>607</TotalTime>
  <Words>811</Words>
  <Application>Microsoft Office PowerPoint</Application>
  <PresentationFormat>On-screen Show (4:3)</PresentationFormat>
  <Paragraphs>257</Paragraphs>
  <Slides>43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AI_PPT_Theme_2</vt:lpstr>
      <vt:lpstr>Equation</vt:lpstr>
      <vt:lpstr>Artificial Intelligence MCA 202</vt:lpstr>
      <vt:lpstr>Improving Results and Optimization</vt:lpstr>
      <vt:lpstr>Iterative improvement</vt:lpstr>
      <vt:lpstr>Simple Example</vt:lpstr>
      <vt:lpstr>Simple Example</vt:lpstr>
      <vt:lpstr>Simple Example</vt:lpstr>
      <vt:lpstr>Simple Example</vt:lpstr>
      <vt:lpstr>Hill-Climbing</vt:lpstr>
      <vt:lpstr>Simple Example</vt:lpstr>
      <vt:lpstr>Simple Example</vt:lpstr>
      <vt:lpstr>Simple Example</vt:lpstr>
      <vt:lpstr>Simple Example</vt:lpstr>
      <vt:lpstr>Simple Example</vt:lpstr>
      <vt:lpstr>Simple Example</vt:lpstr>
      <vt:lpstr>Simple Example</vt:lpstr>
      <vt:lpstr>Simple Example</vt:lpstr>
      <vt:lpstr>Problems With Hill Climbing</vt:lpstr>
      <vt:lpstr>Gradient Descent (or Ascent)</vt:lpstr>
      <vt:lpstr>Gradient Ascent</vt:lpstr>
      <vt:lpstr>Gradient Ascent</vt:lpstr>
      <vt:lpstr>Gradient Ascent</vt:lpstr>
      <vt:lpstr>Gradient Ascent</vt:lpstr>
      <vt:lpstr>Gradient Ascent</vt:lpstr>
      <vt:lpstr>Gradient Ascent</vt:lpstr>
      <vt:lpstr>Dealing with Local Minima</vt:lpstr>
      <vt:lpstr>Simulated Annealing</vt:lpstr>
      <vt:lpstr>Simulated Annealing</vt:lpstr>
      <vt:lpstr>Simulated Annealing</vt:lpstr>
      <vt:lpstr>“Cooling Schedule”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and Michelle Keyser</dc:creator>
  <cp:lastModifiedBy>Microsoft</cp:lastModifiedBy>
  <cp:revision>34</cp:revision>
  <dcterms:created xsi:type="dcterms:W3CDTF">2008-01-25T07:26:01Z</dcterms:created>
  <dcterms:modified xsi:type="dcterms:W3CDTF">2018-01-23T04:55:28Z</dcterms:modified>
</cp:coreProperties>
</file>